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tré Cynthia-Ornella KLUTSE" userId="592f72254586432a" providerId="LiveId" clId="{7E791629-88B2-4F76-86CC-085FEBB5193D}"/>
    <pc:docChg chg="modSld">
      <pc:chgData name="Amatré Cynthia-Ornella KLUTSE" userId="592f72254586432a" providerId="LiveId" clId="{7E791629-88B2-4F76-86CC-085FEBB5193D}" dt="2026-01-20T13:33:08.660" v="1" actId="20577"/>
      <pc:docMkLst>
        <pc:docMk/>
      </pc:docMkLst>
      <pc:sldChg chg="modSp mod">
        <pc:chgData name="Amatré Cynthia-Ornella KLUTSE" userId="592f72254586432a" providerId="LiveId" clId="{7E791629-88B2-4F76-86CC-085FEBB5193D}" dt="2026-01-20T13:33:08.660" v="1" actId="20577"/>
        <pc:sldMkLst>
          <pc:docMk/>
          <pc:sldMk cId="0" sldId="257"/>
        </pc:sldMkLst>
        <pc:spChg chg="mod">
          <ac:chgData name="Amatré Cynthia-Ornella KLUTSE" userId="592f72254586432a" providerId="LiveId" clId="{7E791629-88B2-4F76-86CC-085FEBB5193D}" dt="2026-01-20T13:33:08.660" v="1" actId="20577"/>
          <ac:spMkLst>
            <pc:docMk/>
            <pc:sldMk cId="0" sldId="257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Optimisation</a:t>
            </a:r>
            <a:r>
              <a:rPr dirty="0"/>
              <a:t> du Réseau</a:t>
            </a:r>
            <a:br>
              <a:rPr dirty="0"/>
            </a:br>
            <a:r>
              <a:rPr dirty="0"/>
              <a:t>de Services Publics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 err="1"/>
              <a:t>Analyse</a:t>
            </a:r>
            <a:r>
              <a:rPr dirty="0"/>
              <a:t> des Services de </a:t>
            </a:r>
            <a:r>
              <a:rPr dirty="0" err="1"/>
              <a:t>Délivrance</a:t>
            </a:r>
            <a:br>
              <a:rPr dirty="0"/>
            </a:br>
            <a:r>
              <a:rPr dirty="0"/>
              <a:t>de Documents </a:t>
            </a:r>
            <a:r>
              <a:rPr dirty="0" err="1"/>
              <a:t>Officiels</a:t>
            </a:r>
            <a:r>
              <a:rPr dirty="0"/>
              <a:t> au Togo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TOGO </a:t>
            </a:r>
            <a:r>
              <a:rPr dirty="0" err="1"/>
              <a:t>Datalab</a:t>
            </a:r>
            <a:r>
              <a:rPr dirty="0"/>
              <a:t> | Janvier 2026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69FD39E-EFA4-80AC-6688-B28F6F76F679}"/>
              </a:ext>
            </a:extLst>
          </p:cNvPr>
          <p:cNvSpPr txBox="1"/>
          <p:nvPr/>
        </p:nvSpPr>
        <p:spPr>
          <a:xfrm>
            <a:off x="2688898" y="4312920"/>
            <a:ext cx="37662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lang="fr-FR" dirty="0"/>
              <a:t>Réalisé par KLUTSE Amatré Cynthia-Ornella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Contexte et Indicateurs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1310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rPr sz="1600" dirty="0"/>
              <a:t>Mission: </a:t>
            </a:r>
            <a:r>
              <a:rPr sz="1600" dirty="0" err="1"/>
              <a:t>Évaluer</a:t>
            </a:r>
            <a:r>
              <a:rPr sz="1600" dirty="0"/>
              <a:t> et </a:t>
            </a:r>
            <a:r>
              <a:rPr sz="1600" dirty="0" err="1"/>
              <a:t>optimiser</a:t>
            </a:r>
            <a:r>
              <a:rPr sz="1600" dirty="0"/>
              <a:t> le réseau de 55 </a:t>
            </a:r>
            <a:r>
              <a:rPr sz="1600" dirty="0" err="1"/>
              <a:t>centres</a:t>
            </a:r>
            <a:r>
              <a:rPr sz="1600" dirty="0"/>
              <a:t> pour 5.9M habitants </a:t>
            </a:r>
            <a:r>
              <a:rPr sz="1600" dirty="0" err="1"/>
              <a:t>répartis</a:t>
            </a:r>
            <a:r>
              <a:rPr sz="1600" dirty="0"/>
              <a:t> sur 5 </a:t>
            </a:r>
            <a:r>
              <a:rPr sz="1600" dirty="0" err="1"/>
              <a:t>régions</a:t>
            </a:r>
            <a:endParaRPr sz="1600" dirty="0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931920" cy="1097280"/>
          </a:xfrm>
          <a:prstGeom prst="rect">
            <a:avLst/>
          </a:prstGeom>
          <a:solidFill>
            <a:srgbClr val="F5F5F5"/>
          </a:solidFill>
          <a:ln w="381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</a:defRPr>
            </a:pPr>
            <a:r>
              <a:rPr dirty="0" err="1"/>
              <a:t>Délai</a:t>
            </a:r>
            <a:r>
              <a:rPr dirty="0"/>
              <a:t> Moyen de </a:t>
            </a:r>
            <a:r>
              <a:rPr dirty="0" err="1"/>
              <a:t>Traitement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62728"/>
                </a:solidFill>
              </a:defRPr>
            </a:pPr>
            <a:r>
              <a:rPr dirty="0"/>
              <a:t>22.2 </a:t>
            </a:r>
            <a:r>
              <a:rPr dirty="0" err="1"/>
              <a:t>jours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98937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7F7F"/>
                </a:solidFill>
              </a:defRPr>
            </a:pPr>
            <a:r>
              <a:rPr dirty="0" err="1"/>
              <a:t>Cible</a:t>
            </a:r>
            <a:r>
              <a:rPr dirty="0"/>
              <a:t>: &lt;15 </a:t>
            </a:r>
            <a:r>
              <a:rPr dirty="0" err="1"/>
              <a:t>jours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846320" y="1737360"/>
            <a:ext cx="3931920" cy="1097280"/>
          </a:xfrm>
          <a:prstGeom prst="rect">
            <a:avLst/>
          </a:prstGeom>
          <a:solidFill>
            <a:srgbClr val="F5F5F5"/>
          </a:solidFill>
          <a:ln w="381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</a:defRPr>
            </a:pPr>
            <a:r>
              <a:t>Taux de Rejet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57400"/>
            <a:ext cx="9012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62728"/>
                </a:solidFill>
              </a:defRPr>
            </a:pPr>
            <a:r>
              <a:rPr lang="fr-FR" dirty="0"/>
              <a:t>34</a:t>
            </a:r>
            <a:r>
              <a:rPr dirty="0"/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7553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7F7F"/>
                </a:solidFill>
              </a:defRPr>
            </a:pPr>
            <a:r>
              <a:rPr dirty="0"/>
              <a:t> </a:t>
            </a:r>
            <a:r>
              <a:rPr dirty="0" err="1"/>
              <a:t>Cible</a:t>
            </a:r>
            <a:r>
              <a:rPr dirty="0"/>
              <a:t>: &lt;5%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931920" cy="1097280"/>
          </a:xfrm>
          <a:prstGeom prst="rect">
            <a:avLst/>
          </a:prstGeom>
          <a:solidFill>
            <a:srgbClr val="F5F5F5"/>
          </a:solidFill>
          <a:ln w="381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</a:defRPr>
            </a:pPr>
            <a:r>
              <a:t>Ratio Population /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62728"/>
                </a:solidFill>
              </a:defRPr>
            </a:pPr>
            <a:r>
              <a:rPr dirty="0"/>
              <a:t>117,801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57126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7F7F"/>
                </a:solidFill>
              </a:defRPr>
            </a:pPr>
            <a:r>
              <a:rPr dirty="0" err="1"/>
              <a:t>Cible</a:t>
            </a:r>
            <a:r>
              <a:rPr dirty="0"/>
              <a:t>: &lt;80,000 </a:t>
            </a:r>
            <a:r>
              <a:rPr dirty="0" err="1"/>
              <a:t>hab</a:t>
            </a:r>
            <a:r>
              <a:rPr dirty="0"/>
              <a:t>/</a:t>
            </a:r>
            <a:r>
              <a:rPr dirty="0" err="1"/>
              <a:t>centre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846320" y="3017520"/>
            <a:ext cx="3931920" cy="1097280"/>
          </a:xfrm>
          <a:prstGeom prst="rect">
            <a:avLst/>
          </a:prstGeom>
          <a:solidFill>
            <a:srgbClr val="F5F5F5"/>
          </a:solidFill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</a:defRPr>
            </a:pPr>
            <a:r>
              <a:t>Taux de Satisfaction Usager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7F0E"/>
                </a:solidFill>
              </a:defRPr>
            </a:pPr>
            <a:r>
              <a:rPr dirty="0"/>
              <a:t>42.1%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40480"/>
            <a:ext cx="79220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7F7F"/>
                </a:solidFill>
              </a:defRPr>
            </a:pPr>
            <a:r>
              <a:rPr dirty="0" err="1"/>
              <a:t>Cible</a:t>
            </a:r>
            <a:r>
              <a:rPr dirty="0"/>
              <a:t>: &gt;75%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7F7F"/>
                </a:solidFill>
              </a:defRPr>
            </a:pPr>
            <a:r>
              <a:t>Source: Données consolidées 2023-2024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Principaux Problèmes Identifiés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24470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77B4"/>
                </a:solidFill>
              </a:defRPr>
            </a:pPr>
            <a:r>
              <a:rPr dirty="0"/>
              <a:t>Couverture </a:t>
            </a:r>
            <a:r>
              <a:rPr dirty="0" err="1"/>
              <a:t>territoriale</a:t>
            </a:r>
            <a:r>
              <a:rPr dirty="0"/>
              <a:t> </a:t>
            </a:r>
            <a:r>
              <a:rPr dirty="0" err="1"/>
              <a:t>inégale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rPr dirty="0"/>
              <a:t>4 </a:t>
            </a:r>
            <a:r>
              <a:rPr dirty="0" err="1"/>
              <a:t>régions</a:t>
            </a:r>
            <a:r>
              <a:rPr dirty="0"/>
              <a:t> sur 5 </a:t>
            </a:r>
            <a:r>
              <a:rPr dirty="0" err="1"/>
              <a:t>sont</a:t>
            </a:r>
            <a:r>
              <a:rPr dirty="0"/>
              <a:t> sous-</a:t>
            </a:r>
            <a:r>
              <a:rPr dirty="0" err="1"/>
              <a:t>desservies</a:t>
            </a:r>
            <a:r>
              <a:rPr dirty="0"/>
              <a:t> (</a:t>
            </a:r>
            <a:r>
              <a:rPr dirty="0" err="1"/>
              <a:t>Plateaux</a:t>
            </a:r>
            <a:r>
              <a:rPr dirty="0"/>
              <a:t>: 1 </a:t>
            </a:r>
            <a:r>
              <a:rPr dirty="0" err="1"/>
              <a:t>centre</a:t>
            </a:r>
            <a:r>
              <a:rPr dirty="0"/>
              <a:t>/51 communes). Les </a:t>
            </a:r>
            <a:r>
              <a:rPr dirty="0" err="1"/>
              <a:t>usagers</a:t>
            </a:r>
            <a:r>
              <a:rPr dirty="0"/>
              <a:t> </a:t>
            </a:r>
            <a:r>
              <a:rPr dirty="0" err="1"/>
              <a:t>parcourent</a:t>
            </a:r>
            <a:r>
              <a:rPr dirty="0"/>
              <a:t> de longues distances.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224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77B4"/>
                </a:solidFill>
              </a:defRPr>
            </a:pPr>
            <a:r>
              <a:rPr dirty="0" err="1"/>
              <a:t>Taux</a:t>
            </a:r>
            <a:r>
              <a:rPr dirty="0"/>
              <a:t> de </a:t>
            </a:r>
            <a:r>
              <a:rPr dirty="0" err="1"/>
              <a:t>rejet</a:t>
            </a:r>
            <a:r>
              <a:rPr dirty="0"/>
              <a:t> </a:t>
            </a:r>
            <a:r>
              <a:rPr dirty="0" err="1"/>
              <a:t>excessif</a:t>
            </a:r>
            <a:r>
              <a:rPr dirty="0"/>
              <a:t> (49%)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Principales raisons: signature manquante (54 cas), date expiration (49), adresse invalide (47).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2116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77B4"/>
                </a:solidFill>
              </a:defRPr>
            </a:pPr>
            <a:r>
              <a:rPr dirty="0" err="1"/>
              <a:t>Délais</a:t>
            </a:r>
            <a:r>
              <a:rPr dirty="0"/>
              <a:t> de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élevés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Passeports: 24.5j, Casiers: 23.7j. Régions Savanes et Kara &gt;23.5j. Capacité sous-utilisée (3.4% vs 80-95%).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21732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77B4"/>
                </a:solidFill>
              </a:defRPr>
            </a:pPr>
            <a:r>
              <a:rPr dirty="0"/>
              <a:t>Temps </a:t>
            </a:r>
            <a:r>
              <a:rPr dirty="0" err="1"/>
              <a:t>d'attente</a:t>
            </a:r>
            <a:r>
              <a:rPr dirty="0"/>
              <a:t> 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Moyenne de 63 minutes, pics à 120 min. 7 centres nécessitent intervention urgente (score &gt;70).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7F7F"/>
                </a:solidFill>
              </a:defRPr>
            </a:pPr>
            <a:r>
              <a:t>Analyse basée sur 64,904 demandes et 450 logs opérationnels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Recommandations Stratégiques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77B4"/>
                </a:solidFill>
              </a:defRPr>
            </a:pPr>
            <a:r>
              <a:rPr sz="1600" dirty="0"/>
              <a:t>Actions Court Terme (0-6 </a:t>
            </a:r>
            <a:r>
              <a:rPr sz="1600" dirty="0" err="1"/>
              <a:t>mois</a:t>
            </a:r>
            <a:r>
              <a:rPr sz="1600" dirty="0"/>
              <a:t>)</a:t>
            </a:r>
          </a:p>
          <a:p>
            <a:pPr>
              <a:defRPr sz="1100"/>
            </a:pPr>
            <a:r>
              <a:rPr sz="1600" dirty="0"/>
              <a:t>• Campagne </a:t>
            </a:r>
            <a:r>
              <a:rPr sz="1600" dirty="0" err="1"/>
              <a:t>d'information</a:t>
            </a:r>
            <a:r>
              <a:rPr sz="1600" dirty="0"/>
              <a:t> sur </a:t>
            </a:r>
            <a:r>
              <a:rPr sz="1600" dirty="0" err="1"/>
              <a:t>préparation</a:t>
            </a:r>
            <a:r>
              <a:rPr sz="1600" dirty="0"/>
              <a:t> des dossiers</a:t>
            </a:r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Optimisation</a:t>
            </a:r>
            <a:r>
              <a:rPr sz="1600" dirty="0"/>
              <a:t> </a:t>
            </a:r>
            <a:r>
              <a:rPr sz="1600" dirty="0" err="1"/>
              <a:t>capacité</a:t>
            </a:r>
            <a:r>
              <a:rPr sz="1600" dirty="0"/>
              <a:t> dans 7 </a:t>
            </a:r>
            <a:r>
              <a:rPr sz="1600" dirty="0" err="1"/>
              <a:t>centres</a:t>
            </a:r>
            <a:r>
              <a:rPr sz="1600" dirty="0"/>
              <a:t> </a:t>
            </a:r>
            <a:r>
              <a:rPr sz="1600" dirty="0" err="1"/>
              <a:t>prioritaires</a:t>
            </a:r>
            <a:endParaRPr sz="1600" dirty="0"/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Renforcement</a:t>
            </a:r>
            <a:r>
              <a:rPr sz="1600" dirty="0"/>
              <a:t> canal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ligne</a:t>
            </a:r>
            <a:r>
              <a:rPr sz="1600" dirty="0"/>
              <a:t> (+4% vs guichet)</a:t>
            </a:r>
          </a:p>
          <a:p>
            <a:pPr>
              <a:defRPr sz="1100"/>
            </a:pPr>
            <a:r>
              <a:rPr sz="1600" dirty="0"/>
              <a:t>• Formation personnel sur motifs de </a:t>
            </a:r>
            <a:r>
              <a:rPr sz="1600" dirty="0" err="1"/>
              <a:t>rejet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F0E"/>
                </a:solidFill>
              </a:defRPr>
            </a:pPr>
            <a:r>
              <a:rPr sz="1600" dirty="0"/>
              <a:t>🚀 Actions Moyen Terme (6-18 </a:t>
            </a:r>
            <a:r>
              <a:rPr sz="1600" dirty="0" err="1"/>
              <a:t>mois</a:t>
            </a:r>
            <a:r>
              <a:rPr sz="1600" dirty="0"/>
              <a:t>)</a:t>
            </a:r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Ouverture</a:t>
            </a:r>
            <a:r>
              <a:rPr sz="1600" dirty="0"/>
              <a:t> 15 nouveaux </a:t>
            </a:r>
            <a:r>
              <a:rPr sz="1600" dirty="0" err="1"/>
              <a:t>centres</a:t>
            </a:r>
            <a:r>
              <a:rPr sz="1600" dirty="0"/>
              <a:t> (</a:t>
            </a:r>
            <a:r>
              <a:rPr sz="1600" dirty="0" err="1"/>
              <a:t>Plateaux</a:t>
            </a:r>
            <a:r>
              <a:rPr sz="1600" dirty="0"/>
              <a:t>: 8, Maritime: 4)</a:t>
            </a:r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Digitalisation</a:t>
            </a:r>
            <a:r>
              <a:rPr sz="1600" dirty="0"/>
              <a:t> </a:t>
            </a:r>
            <a:r>
              <a:rPr sz="1600" dirty="0" err="1"/>
              <a:t>complète</a:t>
            </a:r>
            <a:r>
              <a:rPr sz="1600" dirty="0"/>
              <a:t> (31 </a:t>
            </a:r>
            <a:r>
              <a:rPr sz="1600" dirty="0" err="1"/>
              <a:t>centres</a:t>
            </a:r>
            <a:r>
              <a:rPr sz="1600" dirty="0"/>
              <a:t> </a:t>
            </a:r>
            <a:r>
              <a:rPr sz="1600" dirty="0" err="1"/>
              <a:t>équipement</a:t>
            </a:r>
            <a:r>
              <a:rPr sz="1600" dirty="0"/>
              <a:t> </a:t>
            </a:r>
            <a:r>
              <a:rPr sz="1600" dirty="0" err="1"/>
              <a:t>limité</a:t>
            </a:r>
            <a:r>
              <a:rPr sz="1600" dirty="0"/>
              <a:t>)</a:t>
            </a:r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Création</a:t>
            </a:r>
            <a:r>
              <a:rPr sz="1600" dirty="0"/>
              <a:t> </a:t>
            </a:r>
            <a:r>
              <a:rPr sz="1600" dirty="0" err="1"/>
              <a:t>centres</a:t>
            </a:r>
            <a:r>
              <a:rPr sz="1600" dirty="0"/>
              <a:t> mobiles pour communes </a:t>
            </a:r>
            <a:r>
              <a:rPr sz="1600" dirty="0" err="1"/>
              <a:t>éloignées</a:t>
            </a:r>
            <a:endParaRPr sz="1600" dirty="0"/>
          </a:p>
          <a:p>
            <a:pPr>
              <a:defRPr sz="1100"/>
            </a:pPr>
            <a:r>
              <a:rPr sz="1600" dirty="0"/>
              <a:t>• </a:t>
            </a:r>
            <a:r>
              <a:rPr sz="1600" dirty="0" err="1"/>
              <a:t>Partenariats</a:t>
            </a:r>
            <a:r>
              <a:rPr sz="1600" dirty="0"/>
              <a:t> publics pour points de service </a:t>
            </a:r>
            <a:r>
              <a:rPr sz="1600" dirty="0" err="1"/>
              <a:t>décentralisés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457200" y="3575957"/>
            <a:ext cx="8229600" cy="813163"/>
          </a:xfrm>
          <a:prstGeom prst="rect">
            <a:avLst/>
          </a:prstGeom>
          <a:solidFill>
            <a:srgbClr val="FFF8E1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9015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7F0E"/>
                </a:solidFill>
              </a:defRPr>
            </a:pPr>
            <a:r>
              <a:rPr sz="1600" dirty="0"/>
              <a:t>Impact </a:t>
            </a:r>
            <a:r>
              <a:rPr sz="1600" dirty="0" err="1"/>
              <a:t>Attendu</a:t>
            </a:r>
            <a:r>
              <a:rPr sz="1600" dirty="0"/>
              <a:t>: 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rPr sz="1600" dirty="0" err="1"/>
              <a:t>Réduction</a:t>
            </a:r>
            <a:r>
              <a:rPr sz="1600" dirty="0"/>
              <a:t> </a:t>
            </a:r>
            <a:r>
              <a:rPr sz="1600" dirty="0" err="1"/>
              <a:t>délai</a:t>
            </a:r>
            <a:r>
              <a:rPr sz="1600" dirty="0"/>
              <a:t> moyen à 12 </a:t>
            </a:r>
            <a:r>
              <a:rPr sz="1600" dirty="0" err="1"/>
              <a:t>jours</a:t>
            </a:r>
            <a:r>
              <a:rPr sz="1600" dirty="0"/>
              <a:t>, </a:t>
            </a:r>
            <a:r>
              <a:rPr sz="1600" dirty="0" err="1"/>
              <a:t>taux</a:t>
            </a:r>
            <a:r>
              <a:rPr sz="1600" dirty="0"/>
              <a:t> de </a:t>
            </a:r>
            <a:r>
              <a:rPr sz="1600" dirty="0" err="1"/>
              <a:t>rejet</a:t>
            </a:r>
            <a:r>
              <a:rPr sz="1600" dirty="0"/>
              <a:t> à &lt;5%, satisfaction à &gt;80%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et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0252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77B4"/>
                </a:solidFill>
              </a:defRPr>
            </a:pPr>
            <a:r>
              <a:rPr dirty="0" err="1"/>
              <a:t>Synthèse</a:t>
            </a:r>
            <a:r>
              <a:rPr dirty="0"/>
              <a:t> de </a:t>
            </a:r>
            <a:r>
              <a:rPr dirty="0" err="1"/>
              <a:t>l'Analyse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sz="2000" dirty="0"/>
              <a:t>• Dashboard </a:t>
            </a:r>
            <a:r>
              <a:rPr sz="2000" dirty="0" err="1"/>
              <a:t>interactif</a:t>
            </a:r>
            <a:r>
              <a:rPr sz="2000" dirty="0"/>
              <a:t> </a:t>
            </a:r>
            <a:r>
              <a:rPr sz="2000" dirty="0" err="1"/>
              <a:t>opérationnel</a:t>
            </a:r>
            <a:r>
              <a:rPr sz="2000" dirty="0"/>
              <a:t> avec 3 </a:t>
            </a:r>
            <a:r>
              <a:rPr sz="2000" dirty="0" err="1"/>
              <a:t>vues</a:t>
            </a: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2004596"/>
            <a:ext cx="17256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7F0E"/>
                </a:solidFill>
              </a:defRPr>
            </a:pPr>
            <a:r>
              <a:rPr dirty="0" err="1"/>
              <a:t>Prochaines</a:t>
            </a:r>
            <a:r>
              <a:rPr dirty="0"/>
              <a:t>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80310"/>
            <a:ext cx="8229600" cy="1459774"/>
          </a:xfrm>
          <a:prstGeom prst="rect">
            <a:avLst/>
          </a:prstGeom>
          <a:solidFill>
            <a:srgbClr val="F5F5F5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98280"/>
            <a:ext cx="7772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rPr sz="2000" dirty="0"/>
              <a:t>1. Validation des </a:t>
            </a:r>
            <a:r>
              <a:rPr sz="2000" dirty="0" err="1"/>
              <a:t>recommandations</a:t>
            </a:r>
            <a:r>
              <a:rPr sz="2000" dirty="0"/>
              <a:t> avec les parties </a:t>
            </a:r>
            <a:r>
              <a:rPr sz="2000" dirty="0" err="1"/>
              <a:t>prenantes</a:t>
            </a:r>
            <a:endParaRPr sz="2000" dirty="0"/>
          </a:p>
          <a:p>
            <a:pPr>
              <a:defRPr sz="1100">
                <a:solidFill>
                  <a:srgbClr val="1A1A1A"/>
                </a:solidFill>
              </a:defRPr>
            </a:pPr>
            <a:r>
              <a:rPr sz="2000" dirty="0"/>
              <a:t>2. </a:t>
            </a:r>
            <a:r>
              <a:rPr sz="2000" dirty="0" err="1"/>
              <a:t>Élaboration</a:t>
            </a:r>
            <a:r>
              <a:rPr sz="2000" dirty="0"/>
              <a:t> du plan </a:t>
            </a:r>
            <a:r>
              <a:rPr sz="2000" dirty="0" err="1"/>
              <a:t>d'action</a:t>
            </a:r>
            <a:r>
              <a:rPr sz="2000" dirty="0"/>
              <a:t> </a:t>
            </a:r>
            <a:r>
              <a:rPr sz="2000" dirty="0" err="1"/>
              <a:t>détaillé</a:t>
            </a:r>
            <a:r>
              <a:rPr sz="2000" dirty="0"/>
              <a:t> avec </a:t>
            </a:r>
            <a:r>
              <a:rPr sz="2000" dirty="0" err="1"/>
              <a:t>calendrier</a:t>
            </a:r>
            <a:r>
              <a:rPr sz="2000" dirty="0"/>
              <a:t> et budget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rPr sz="2000" dirty="0"/>
              <a:t>3. Pilotage </a:t>
            </a:r>
            <a:r>
              <a:rPr sz="2000" dirty="0" err="1"/>
              <a:t>mensuel</a:t>
            </a:r>
            <a:r>
              <a:rPr sz="2000" dirty="0"/>
              <a:t> des KPI via le dashboard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rPr sz="2000" dirty="0"/>
              <a:t>4. </a:t>
            </a:r>
            <a:r>
              <a:rPr sz="2000" dirty="0" err="1"/>
              <a:t>Évaluation</a:t>
            </a:r>
            <a:r>
              <a:rPr sz="2000" dirty="0"/>
              <a:t> </a:t>
            </a:r>
            <a:r>
              <a:rPr sz="2000" dirty="0" err="1"/>
              <a:t>trimestrielle</a:t>
            </a:r>
            <a:r>
              <a:rPr sz="2000" dirty="0"/>
              <a:t> de </a:t>
            </a:r>
            <a:r>
              <a:rPr sz="2000" dirty="0" err="1"/>
              <a:t>l'impact</a:t>
            </a:r>
            <a:r>
              <a:rPr sz="2000" dirty="0"/>
              <a:t> des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4253" y="4023360"/>
            <a:ext cx="60154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rPr sz="1600" dirty="0"/>
              <a:t>Une </a:t>
            </a:r>
            <a:r>
              <a:rPr sz="1600" dirty="0" err="1"/>
              <a:t>approche</a:t>
            </a:r>
            <a:r>
              <a:rPr sz="1600" dirty="0"/>
              <a:t> data-driven pour </a:t>
            </a:r>
            <a:r>
              <a:rPr sz="1600" dirty="0" err="1"/>
              <a:t>moderniser</a:t>
            </a:r>
            <a:r>
              <a:rPr sz="1600" dirty="0"/>
              <a:t> le service public </a:t>
            </a:r>
            <a:r>
              <a:rPr sz="1600" dirty="0" err="1"/>
              <a:t>togolais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7F7F"/>
                </a:solidFill>
              </a:defRPr>
            </a:pPr>
            <a:r>
              <a:t>Merci de votre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754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F7F7F"/>
                </a:solidFill>
              </a:defRPr>
            </a:pPr>
            <a:r>
              <a:t>TOGO Datalab | contact@datalab.tg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396</Words>
  <Application>Microsoft Office PowerPoint</Application>
  <PresentationFormat>Affichage à l'écran (16:9)</PresentationFormat>
  <Paragraphs>53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Amatré Cynthia-Ornella KLUTSE</cp:lastModifiedBy>
  <cp:revision>2</cp:revision>
  <dcterms:created xsi:type="dcterms:W3CDTF">2013-01-27T09:14:16Z</dcterms:created>
  <dcterms:modified xsi:type="dcterms:W3CDTF">2026-01-20T13:33:35Z</dcterms:modified>
  <cp:category/>
</cp:coreProperties>
</file>